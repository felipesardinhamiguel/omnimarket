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        <Relationship Id="rId1" Type="http://schemas.openxmlformats.org/officeDocument/2006/relationships/officeDocument" Target="ppt/presentation.xml"/>
          <Relationship Id="rId2" Type="http://schemas.openxmlformats.org/package/2006/relationships/metadata/core-properties" Target="docProps/core.xml"/>
          <Relationship Id="rId3" Type="http://schemas.openxmlformats.org/officeDocument/2006/relationships/extended-properties" Target="docProps/app.xml"/>
    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browse="0" loop="0"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 autoAdjust="0"/>
    <p:restoredTop sz="94660" autoAdjust="0"/>
  </p:normalViewPr>
  <p:slideViewPr>
    <p:cSldViewPr snapToGrid="0" snapToObjects="1" showGuides="0" showGrid="0"/>
  </p:slideViewPr>
  <p:notesTextViewPr>
    <p:cViewPr varScale="100"/>
  </p:notesTextViewPr>
  <p:gridSpacing cx="914400" cy="914400"/>
</p:viewPr>
</file>

<file path=ppt/_rels/presentation.xml.rels><?xml version="1.0" encoding="UTF-8" standalone="yes"?>
<Relationships xmlns="http://schemas.openxmlformats.org/package/2006/relationships">
        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presProps" Target="presProps.xml"/> <Relationship Id="rId9" Type="http://schemas.openxmlformats.org/officeDocument/2006/relationships/viewProps" Target="viewProps.xml"/> <Relationship Id="rId10" Type="http://schemas.openxmlformats.org/officeDocument/2006/relationships/tableStyles" Target="tableStyles.xml"/>
        </Relationships>
</file>

<file path=ppt/slideLayouts/_rels/slideLayout1.xml.rels><?xml version="1.0" encoding="UTF-8" standalone="yes"?>
<Relationships xmlns="http://schemas.openxmlformats.org/package/2006/relationships">
          <Relationship Id="rId1" Type="http://schemas.openxmlformats.org/officeDocument/2006/relationships/slideMaster" Target="../slideMasters/slideMaster1.xml"/>
        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      <Relationship Id="rId1" Type="http://schemas.openxmlformats.org/officeDocument/2006/relationships/slideLayout" Target="../slideLayouts/slideLayout1.xml"/>
          <Relationship Id="rId2" Type="http://schemas.openxmlformats.org/officeDocument/2006/relationships/theme" Target="../theme/theme1.xml"/>
        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mniMarke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         <Relationship
            Id="rId1"
            Type="http://schemas.openxmlformats.org/officeDocument/2006/relationships/slideLayout"
            Target="../slideLayouts/slideLayout1.xml"/>
          
          <Relationship
            Id="rId2"
            Type="http://schemas.openxmlformats.org/officeDocument/2006/relationships/image"
            Target="../media/logo.png"/>
        </Relationships>
</file>

<file path=ppt/slides/_rels/slide2.xml.rels><?xml version="1.0" encoding="UTF-8" standalone="yes"?>
<Relationships xmlns="http://schemas.openxmlformats.org/package/2006/relationships">
          <Relationship
            Id="rId1"
            Type="http://schemas.openxmlformats.org/officeDocument/2006/relationships/slideLayout"
            Target="../slideLayouts/slideLayout1.xml"/>
          
          <Relationship
            Id="rId2"
            Type="http://schemas.openxmlformats.org/officeDocument/2006/relationships/image"
            Target="../media/logo.png"/>
        </Relationships>
</file>

<file path=ppt/slides/_rels/slide3.xml.rels><?xml version="1.0" encoding="UTF-8" standalone="yes"?>
<Relationships xmlns="http://schemas.openxmlformats.org/package/2006/relationships">
          <Relationship
            Id="rId1"
            Type="http://schemas.openxmlformats.org/officeDocument/2006/relationships/slideLayout"
            Target="../slideLayouts/slideLayout1.xml"/>
          
          <Relationship
            Id="rId2"
            Type="http://schemas.openxmlformats.org/officeDocument/2006/relationships/image"
            Target="../media/logo.png"/>
        </Relationships>
</file>

<file path=ppt/slides/_rels/slide4.xml.rels><?xml version="1.0" encoding="UTF-8" standalone="yes"?>
<Relationships xmlns="http://schemas.openxmlformats.org/package/2006/relationships">
          <Relationship
            Id="rId1"
            Type="http://schemas.openxmlformats.org/officeDocument/2006/relationships/slideLayout"
            Target="../slideLayouts/slideLayout1.xml"/>
          
          <Relationship
            Id="rId2"
            Type="http://schemas.openxmlformats.org/officeDocument/2006/relationships/image"
            Target="../media/logo.png"/>
        </Relationships>
</file>

<file path=ppt/slides/_rels/slide5.xml.rels><?xml version="1.0" encoding="UTF-8" standalone="yes"?>
<Relationships xmlns="http://schemas.openxmlformats.org/package/2006/relationships">
          <Relationship
            Id="rId1"
            Type="http://schemas.openxmlformats.org/officeDocument/2006/relationships/slideLayout"
            Target="../slideLayouts/slideLayout1.xml"/>
          
          <Relationship
            Id="rId2"
            Type="http://schemas.openxmlformats.org/officeDocument/2006/relationships/image"
            Target="../media/logo.png"/>
        </Relationships>
</file>

<file path=ppt/slides/_rels/slide6.xml.rels><?xml version="1.0" encoding="UTF-8" standalone="yes"?>
<Relationships xmlns="http://schemas.openxmlformats.org/package/2006/relationships">
          <Relationship
            Id="rId1"
            Type="http://schemas.openxmlformats.org/officeDocument/2006/relationships/slideLayout"
            Target="../slideLayouts/slideLayout1.xml"/>
          
          <Relationship
            Id="rId2"
            Type="http://schemas.openxmlformats.org/officeDocument/2006/relationships/image"
            Target="../media/logo.png"/>
        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3" name="Top Line"/>
          <p:cNvSpPr/>
          <p:nvPr/>
        </p:nvSpPr>
        <p:spPr>
          <a:xfrm>
            <a:off x="777240" y="502920"/>
            <a:ext cx="106070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Bottom Line"/>
          <p:cNvSpPr/>
          <p:nvPr/>
        </p:nvSpPr>
        <p:spPr>
          <a:xfrm>
            <a:off x="777240" y="5532120"/>
            <a:ext cx="106070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pic>
        <p:nvPicPr>
          <p:cNvPr id="5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3108960" cy="3108960"/>
          </a:xfrm>
          <a:prstGeom prst="rect">
            <a:avLst/>
          </a:prstGeom>
          <a:ln>
            <a:noFill/>
          </a:ln>
        </p:spPr>
      </p:pic>
      <p:sp>
        <p:nvSpPr>
          <p:cNvPr id="6" name="Title"/>
          <p:cNvSpPr txBox="1"/>
          <p:nvPr/>
        </p:nvSpPr>
        <p:spPr>
          <a:xfrm>
            <a:off x="2194560" y="38862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 algn="ctr">
              <a:buNone/>
            </a:pPr>
            <a:r>
              <a:rPr sz="3000" lang="pt-BR" b="1">
                <a:solidFill>
                  <a:srgbClr val="D4AF37"/>
                </a:solidFill>
                <a:latin typeface="Montserrat Black"/>
              </a:rPr>
              <a:t>OmniMarket</a:t>
            </a:r>
            <a:endParaRPr lang="pt-BR" sz="3000"/>
          </a:p>
          <a:p>
            <a:pPr algn="ctr">
              <a:buNone/>
            </a:pPr>
            <a:r>
              <a:rPr sz="1900" lang="pt-BR">
                <a:solidFill>
                  <a:srgbClr val="FFFFFF"/>
                </a:solidFill>
                <a:latin typeface="Montserrat Bold"/>
              </a:rPr>
              <a:t>Apresentacao de Sprint</a:t>
            </a:r>
            <a:endParaRPr lang="pt-BR" sz="1900"/>
          </a:p>
          <a:p>
            <a:pPr algn="ctr">
              <a:buNone/>
            </a:pPr>
            <a:r>
              <a:rPr sz="1350" lang="pt-BR">
                <a:solidFill>
                  <a:srgbClr val="E5E0DF"/>
                </a:solidFill>
                <a:latin typeface="Syne"/>
              </a:rPr>
              <a:t>Marketplace P2P para pequenos vendedores</a:t>
            </a:r>
            <a:endParaRPr lang="pt-BR" sz="1350"/>
          </a:p>
        </p:txBody>
      </p:sp>
      <p:sp>
        <p:nvSpPr>
          <p:cNvPr id="7" name="Footer"/>
          <p:cNvSpPr txBox="1"/>
          <p:nvPr/>
        </p:nvSpPr>
        <p:spPr>
          <a:xfrm>
            <a:off x="2057400" y="5285232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 algn="ctr">
              <a:buNone/>
            </a:pPr>
            <a:r>
              <a:rPr sz="1100" lang="pt-BR">
                <a:solidFill>
                  <a:srgbClr val="E5E0DF"/>
                </a:solidFill>
                <a:latin typeface="Montserrat Bold"/>
              </a:rPr>
              <a:t>TCC | Tecnico em Desenvolvimento de Sistemas | ETEC</a:t>
            </a:r>
            <a:endParaRPr lang="pt-BR" sz="1100"/>
          </a:p>
          <a:p>
            <a:pPr algn="ctr">
              <a:buNone/>
            </a:pPr>
            <a:r>
              <a:rPr sz="1000" lang="pt-BR">
                <a:solidFill>
                  <a:srgbClr val="D4AF37"/>
                </a:solidFill>
                <a:latin typeface="Montserrat Bold"/>
              </a:rPr>
              <a:t>[NOME DA EQUIPE]  |  [NOME DO ORIENTADOR]</a:t>
            </a:r>
            <a:endParaRPr lang="pt-B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3" name="Top Line"/>
          <p:cNvSpPr/>
          <p:nvPr/>
        </p:nvSpPr>
        <p:spPr>
          <a:xfrm>
            <a:off x="731520" y="438912"/>
            <a:ext cx="10744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Note Box"/>
          <p:cNvSpPr/>
          <p:nvPr/>
        </p:nvSpPr>
        <p:spPr>
          <a:xfrm>
            <a:off x="7543800" y="1920240"/>
            <a:ext cx="3611880" cy="2560320"/>
          </a:xfrm>
          <a:prstGeom prst="roundRect">
            <a:avLst/>
          </a:prstGeom>
          <a:noFill/>
          <a:ln w="12700">
            <a:solidFill>
              <a:srgbClr val="D4AF37"/>
            </a:solidFill>
          </a:ln>
        </p:spPr>
      </p:sp>
      <p:pic>
        <p:nvPicPr>
          <p:cNvPr id="5" name="Logo Sm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640080"/>
            <a:ext cx="749808" cy="749808"/>
          </a:xfrm>
          <a:prstGeom prst="rect">
            <a:avLst/>
          </a:prstGeom>
          <a:ln>
            <a:noFill/>
          </a:ln>
        </p:spPr>
      </p:pic>
      <p:sp>
        <p:nvSpPr>
          <p:cNvPr id="6" name="Section"/>
          <p:cNvSpPr txBox="1"/>
          <p:nvPr/>
        </p:nvSpPr>
        <p:spPr>
          <a:xfrm>
            <a:off x="868680" y="62179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300" lang="pt-BR" b="1">
                <a:solidFill>
                  <a:srgbClr val="D4AF37"/>
                </a:solidFill>
                <a:latin typeface="Syne"/>
              </a:rPr>
              <a:t>VISAO GERAL</a:t>
            </a:r>
            <a:endParaRPr lang="pt-BR" sz="1300"/>
          </a:p>
        </p:txBody>
      </p:sp>
      <p:sp>
        <p:nvSpPr>
          <p:cNvPr id="7" name="Title"/>
          <p:cNvSpPr txBox="1"/>
          <p:nvPr/>
        </p:nvSpPr>
        <p:spPr>
          <a:xfrm>
            <a:off x="868680" y="105156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2500" lang="pt-BR" b="1">
                <a:solidFill>
                  <a:srgbClr val="FFFFFF"/>
                </a:solidFill>
                <a:latin typeface="Montserrat Black"/>
              </a:rPr>
              <a:t>OmniMarket, em resumo</a:t>
            </a:r>
            <a:endParaRPr lang="pt-BR" sz="2500"/>
          </a:p>
        </p:txBody>
      </p:sp>
      <p:sp>
        <p:nvSpPr>
          <p:cNvPr id="8" name="Title Underline"/>
          <p:cNvSpPr/>
          <p:nvPr/>
        </p:nvSpPr>
        <p:spPr>
          <a:xfrm>
            <a:off x="896112" y="1783080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9" name="Bullets"/>
          <p:cNvSpPr txBox="1"/>
          <p:nvPr/>
        </p:nvSpPr>
        <p:spPr>
          <a:xfrm>
            <a:off x="914400" y="2011680"/>
            <a:ext cx="617220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Marketplace P2P com foco em pequenos vendedores.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Fluxo centralizado de cadastro, produtos, pedidos e pagamento.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Projeto de TCC com base tecnica aplicavel a um cenario real.</a:t>
            </a:r>
            <a:endParaRPr lang="pt-BR" sz="1700"/>
          </a:p>
        </p:txBody>
      </p:sp>
      <p:sp>
        <p:nvSpPr>
          <p:cNvPr id="10" name="Notes"/>
          <p:cNvSpPr txBox="1"/>
          <p:nvPr/>
        </p:nvSpPr>
        <p:spPr>
          <a:xfrm>
            <a:off x="7772400" y="214884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750" lang="pt-BR" b="1">
                <a:solidFill>
                  <a:srgbClr val="D4AF37"/>
                </a:solidFill>
                <a:latin typeface="Montserrat Black"/>
              </a:rPr>
              <a:t>Proposta</a:t>
            </a:r>
            <a:endParaRPr lang="pt-BR" sz="175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Conectar compradores e vendedores em uma unica plataforma.</a:t>
            </a:r>
            <a:endParaRPr lang="pt-BR" sz="140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Transformar o TCC em uma solucao coerente, clara e demonstravel.</a:t>
            </a:r>
            <a:endParaRPr lang="pt-BR" sz="1400"/>
          </a:p>
        </p:txBody>
      </p:sp>
      <p:sp>
        <p:nvSpPr>
          <p:cNvPr id="11" name="Footer"/>
          <p:cNvSpPr txBox="1"/>
          <p:nvPr/>
        </p:nvSpPr>
        <p:spPr>
          <a:xfrm>
            <a:off x="877824" y="5623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>
              <a:buNone/>
            </a:pPr>
            <a:r>
              <a:rPr sz="1000" lang="pt-BR">
                <a:solidFill>
                  <a:srgbClr val="3B3B3B"/>
                </a:solidFill>
                <a:latin typeface="Montserrat Bold"/>
              </a:rPr>
              <a:t>OmniMarket | Sprint</a:t>
            </a:r>
            <a:endParaRPr lang="pt-BR" sz="1000"/>
          </a:p>
        </p:txBody>
      </p:sp>
      <p:sp>
        <p:nvSpPr>
          <p:cNvPr id="12" name="Page"/>
          <p:cNvSpPr txBox="1"/>
          <p:nvPr/>
        </p:nvSpPr>
        <p:spPr>
          <a:xfrm>
            <a:off x="10561320" y="5577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 algn="ctr">
              <a:buNone/>
            </a:pPr>
            <a:r>
              <a:rPr sz="1000" lang="pt-BR" b="1">
                <a:solidFill>
                  <a:srgbClr val="D4AF37"/>
                </a:solidFill>
                <a:latin typeface="Montserrat Bold"/>
              </a:rPr>
              <a:t>2/6</a:t>
            </a:r>
            <a:endParaRPr lang="pt-B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3" name="Top Line"/>
          <p:cNvSpPr/>
          <p:nvPr/>
        </p:nvSpPr>
        <p:spPr>
          <a:xfrm>
            <a:off x="731520" y="438912"/>
            <a:ext cx="10744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Note Box"/>
          <p:cNvSpPr/>
          <p:nvPr/>
        </p:nvSpPr>
        <p:spPr>
          <a:xfrm>
            <a:off x="7543800" y="1920240"/>
            <a:ext cx="3611880" cy="2560320"/>
          </a:xfrm>
          <a:prstGeom prst="roundRect">
            <a:avLst/>
          </a:prstGeom>
          <a:noFill/>
          <a:ln w="12700">
            <a:solidFill>
              <a:srgbClr val="D4AF37"/>
            </a:solidFill>
          </a:ln>
        </p:spPr>
      </p:sp>
      <p:pic>
        <p:nvPicPr>
          <p:cNvPr id="5" name="Logo Sm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640080"/>
            <a:ext cx="749808" cy="749808"/>
          </a:xfrm>
          <a:prstGeom prst="rect">
            <a:avLst/>
          </a:prstGeom>
          <a:ln>
            <a:noFill/>
          </a:ln>
        </p:spPr>
      </p:pic>
      <p:sp>
        <p:nvSpPr>
          <p:cNvPr id="6" name="Section"/>
          <p:cNvSpPr txBox="1"/>
          <p:nvPr/>
        </p:nvSpPr>
        <p:spPr>
          <a:xfrm>
            <a:off x="868680" y="62179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300" lang="pt-BR" b="1">
                <a:solidFill>
                  <a:srgbClr val="D4AF37"/>
                </a:solidFill>
                <a:latin typeface="Syne"/>
              </a:rPr>
              <a:t>ANDAMENTO</a:t>
            </a:r>
            <a:endParaRPr lang="pt-BR" sz="1300"/>
          </a:p>
        </p:txBody>
      </p:sp>
      <p:sp>
        <p:nvSpPr>
          <p:cNvPr id="7" name="Title"/>
          <p:cNvSpPr txBox="1"/>
          <p:nvPr/>
        </p:nvSpPr>
        <p:spPr>
          <a:xfrm>
            <a:off x="868680" y="105156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2500" lang="pt-BR" b="1">
                <a:solidFill>
                  <a:srgbClr val="FFFFFF"/>
                </a:solidFill>
                <a:latin typeface="Montserrat Black"/>
              </a:rPr>
              <a:t>Onde estamos hoje</a:t>
            </a:r>
            <a:endParaRPr lang="pt-BR" sz="2500"/>
          </a:p>
        </p:txBody>
      </p:sp>
      <p:sp>
        <p:nvSpPr>
          <p:cNvPr id="8" name="Title Underline"/>
          <p:cNvSpPr/>
          <p:nvPr/>
        </p:nvSpPr>
        <p:spPr>
          <a:xfrm>
            <a:off x="896112" y="1783080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9" name="Bullets"/>
          <p:cNvSpPr txBox="1"/>
          <p:nvPr/>
        </p:nvSpPr>
        <p:spPr>
          <a:xfrm>
            <a:off x="914400" y="2011680"/>
            <a:ext cx="617220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API em .NET 9 com Entity Framework Core e SQL Server.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Autenticacao com JWT e controle de acesso por perfil.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Painel admin ja funcional para visao operacional.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Web e Mobile ainda em evolucao estrutural.</a:t>
            </a:r>
            <a:endParaRPr lang="pt-BR" sz="1700"/>
          </a:p>
        </p:txBody>
      </p:sp>
      <p:sp>
        <p:nvSpPr>
          <p:cNvPr id="10" name="Notes"/>
          <p:cNvSpPr txBox="1"/>
          <p:nvPr/>
        </p:nvSpPr>
        <p:spPr>
          <a:xfrm>
            <a:off x="7772400" y="214884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750" lang="pt-BR" b="1">
                <a:solidFill>
                  <a:srgbClr val="D4AF37"/>
                </a:solidFill>
                <a:latin typeface="Montserrat Black"/>
              </a:rPr>
              <a:t>Leitura rapida</a:t>
            </a:r>
            <a:endParaRPr lang="pt-BR" sz="175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A parte mais madura do projeto esta no back-end.</a:t>
            </a:r>
            <a:endParaRPr lang="pt-BR" sz="140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O foco agora e equilibrar regra de negocio e experiencia visual.</a:t>
            </a:r>
            <a:endParaRPr lang="pt-BR" sz="1400"/>
          </a:p>
        </p:txBody>
      </p:sp>
      <p:sp>
        <p:nvSpPr>
          <p:cNvPr id="11" name="Footer"/>
          <p:cNvSpPr txBox="1"/>
          <p:nvPr/>
        </p:nvSpPr>
        <p:spPr>
          <a:xfrm>
            <a:off x="877824" y="5623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>
              <a:buNone/>
            </a:pPr>
            <a:r>
              <a:rPr sz="1000" lang="pt-BR">
                <a:solidFill>
                  <a:srgbClr val="3B3B3B"/>
                </a:solidFill>
                <a:latin typeface="Montserrat Bold"/>
              </a:rPr>
              <a:t>OmniMarket | Sprint</a:t>
            </a:r>
            <a:endParaRPr lang="pt-BR" sz="1000"/>
          </a:p>
        </p:txBody>
      </p:sp>
      <p:sp>
        <p:nvSpPr>
          <p:cNvPr id="12" name="Page"/>
          <p:cNvSpPr txBox="1"/>
          <p:nvPr/>
        </p:nvSpPr>
        <p:spPr>
          <a:xfrm>
            <a:off x="10561320" y="5577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 algn="ctr">
              <a:buNone/>
            </a:pPr>
            <a:r>
              <a:rPr sz="1000" lang="pt-BR" b="1">
                <a:solidFill>
                  <a:srgbClr val="D4AF37"/>
                </a:solidFill>
                <a:latin typeface="Montserrat Bold"/>
              </a:rPr>
              <a:t>3/6</a:t>
            </a:r>
            <a:endParaRPr lang="pt-B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3" name="Top Line"/>
          <p:cNvSpPr/>
          <p:nvPr/>
        </p:nvSpPr>
        <p:spPr>
          <a:xfrm>
            <a:off x="731520" y="438912"/>
            <a:ext cx="10744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Note Box"/>
          <p:cNvSpPr/>
          <p:nvPr/>
        </p:nvSpPr>
        <p:spPr>
          <a:xfrm>
            <a:off x="7543800" y="1920240"/>
            <a:ext cx="3611880" cy="2560320"/>
          </a:xfrm>
          <a:prstGeom prst="roundRect">
            <a:avLst/>
          </a:prstGeom>
          <a:noFill/>
          <a:ln w="12700">
            <a:solidFill>
              <a:srgbClr val="D4AF37"/>
            </a:solidFill>
          </a:ln>
        </p:spPr>
      </p:sp>
      <p:pic>
        <p:nvPicPr>
          <p:cNvPr id="5" name="Logo Sm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640080"/>
            <a:ext cx="749808" cy="749808"/>
          </a:xfrm>
          <a:prstGeom prst="rect">
            <a:avLst/>
          </a:prstGeom>
          <a:ln>
            <a:noFill/>
          </a:ln>
        </p:spPr>
      </p:pic>
      <p:sp>
        <p:nvSpPr>
          <p:cNvPr id="6" name="Section"/>
          <p:cNvSpPr txBox="1"/>
          <p:nvPr/>
        </p:nvSpPr>
        <p:spPr>
          <a:xfrm>
            <a:off x="868680" y="62179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300" lang="pt-BR" b="1">
                <a:solidFill>
                  <a:srgbClr val="D4AF37"/>
                </a:solidFill>
                <a:latin typeface="Syne"/>
              </a:rPr>
              <a:t>SPRINT ATUAL</a:t>
            </a:r>
            <a:endParaRPr lang="pt-BR" sz="1300"/>
          </a:p>
        </p:txBody>
      </p:sp>
      <p:sp>
        <p:nvSpPr>
          <p:cNvPr id="7" name="Title"/>
          <p:cNvSpPr txBox="1"/>
          <p:nvPr/>
        </p:nvSpPr>
        <p:spPr>
          <a:xfrm>
            <a:off x="868680" y="105156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2500" lang="pt-BR" b="1">
                <a:solidFill>
                  <a:srgbClr val="FFFFFF"/>
                </a:solidFill>
                <a:latin typeface="Montserrat Black"/>
              </a:rPr>
              <a:t>Destaque da sprint</a:t>
            </a:r>
            <a:endParaRPr lang="pt-BR" sz="2500"/>
          </a:p>
        </p:txBody>
      </p:sp>
      <p:sp>
        <p:nvSpPr>
          <p:cNvPr id="8" name="Title Underline"/>
          <p:cNvSpPr/>
          <p:nvPr/>
        </p:nvSpPr>
        <p:spPr>
          <a:xfrm>
            <a:off x="896112" y="1783080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9" name="Bullets"/>
          <p:cNvSpPr txBox="1"/>
          <p:nvPr/>
        </p:nvSpPr>
        <p:spPr>
          <a:xfrm>
            <a:off x="914400" y="2011680"/>
            <a:ext cx="617220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Plano de pagamento por pedido.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Separacao financeira por vendedor no mesmo fluxo.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Comissao, repasse, recibo e historico financeiro.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Webhook e conciliacao prontos para evolucao futura.</a:t>
            </a:r>
            <a:endParaRPr lang="pt-BR" sz="1700"/>
          </a:p>
        </p:txBody>
      </p:sp>
      <p:sp>
        <p:nvSpPr>
          <p:cNvPr id="10" name="Notes"/>
          <p:cNvSpPr txBox="1"/>
          <p:nvPr/>
        </p:nvSpPr>
        <p:spPr>
          <a:xfrm>
            <a:off x="7772400" y="214884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750" lang="pt-BR" b="1">
                <a:solidFill>
                  <a:srgbClr val="D4AF37"/>
                </a:solidFill>
                <a:latin typeface="Montserrat Black"/>
              </a:rPr>
              <a:t>Modulo financeiro</a:t>
            </a:r>
            <a:endParaRPr lang="pt-BR" sz="175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Foi o maior salto de maturidade desta etapa.</a:t>
            </a:r>
            <a:endParaRPr lang="pt-BR" sz="140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A modelagem ficou mais proxima do funcionamento real de um marketplace.</a:t>
            </a:r>
            <a:endParaRPr lang="pt-BR" sz="1400"/>
          </a:p>
        </p:txBody>
      </p:sp>
      <p:sp>
        <p:nvSpPr>
          <p:cNvPr id="11" name="Footer"/>
          <p:cNvSpPr txBox="1"/>
          <p:nvPr/>
        </p:nvSpPr>
        <p:spPr>
          <a:xfrm>
            <a:off x="877824" y="5623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>
              <a:buNone/>
            </a:pPr>
            <a:r>
              <a:rPr sz="1000" lang="pt-BR">
                <a:solidFill>
                  <a:srgbClr val="3B3B3B"/>
                </a:solidFill>
                <a:latin typeface="Montserrat Bold"/>
              </a:rPr>
              <a:t>OmniMarket | Sprint</a:t>
            </a:r>
            <a:endParaRPr lang="pt-BR" sz="1000"/>
          </a:p>
        </p:txBody>
      </p:sp>
      <p:sp>
        <p:nvSpPr>
          <p:cNvPr id="12" name="Page"/>
          <p:cNvSpPr txBox="1"/>
          <p:nvPr/>
        </p:nvSpPr>
        <p:spPr>
          <a:xfrm>
            <a:off x="10561320" y="5577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 algn="ctr">
              <a:buNone/>
            </a:pPr>
            <a:r>
              <a:rPr sz="1000" lang="pt-BR" b="1">
                <a:solidFill>
                  <a:srgbClr val="D4AF37"/>
                </a:solidFill>
                <a:latin typeface="Montserrat Bold"/>
              </a:rPr>
              <a:t>4/6</a:t>
            </a:r>
            <a:endParaRPr lang="pt-B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3" name="Top Line"/>
          <p:cNvSpPr/>
          <p:nvPr/>
        </p:nvSpPr>
        <p:spPr>
          <a:xfrm>
            <a:off x="731520" y="438912"/>
            <a:ext cx="10744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Note Box"/>
          <p:cNvSpPr/>
          <p:nvPr/>
        </p:nvSpPr>
        <p:spPr>
          <a:xfrm>
            <a:off x="7543800" y="1920240"/>
            <a:ext cx="3611880" cy="2560320"/>
          </a:xfrm>
          <a:prstGeom prst="roundRect">
            <a:avLst/>
          </a:prstGeom>
          <a:noFill/>
          <a:ln w="12700">
            <a:solidFill>
              <a:srgbClr val="D4AF37"/>
            </a:solidFill>
          </a:ln>
        </p:spPr>
      </p:sp>
      <p:pic>
        <p:nvPicPr>
          <p:cNvPr id="5" name="Logo Sm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640080"/>
            <a:ext cx="749808" cy="749808"/>
          </a:xfrm>
          <a:prstGeom prst="rect">
            <a:avLst/>
          </a:prstGeom>
          <a:ln>
            <a:noFill/>
          </a:ln>
        </p:spPr>
      </p:pic>
      <p:sp>
        <p:nvSpPr>
          <p:cNvPr id="6" name="Section"/>
          <p:cNvSpPr txBox="1"/>
          <p:nvPr/>
        </p:nvSpPr>
        <p:spPr>
          <a:xfrm>
            <a:off x="868680" y="62179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300" lang="pt-BR" b="1">
                <a:solidFill>
                  <a:srgbClr val="D4AF37"/>
                </a:solidFill>
                <a:latin typeface="Syne"/>
              </a:rPr>
              <a:t>VALIDACAO</a:t>
            </a:r>
            <a:endParaRPr lang="pt-BR" sz="1300"/>
          </a:p>
        </p:txBody>
      </p:sp>
      <p:sp>
        <p:nvSpPr>
          <p:cNvPr id="7" name="Title"/>
          <p:cNvSpPr txBox="1"/>
          <p:nvPr/>
        </p:nvSpPr>
        <p:spPr>
          <a:xfrm>
            <a:off x="868680" y="105156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2500" lang="pt-BR" b="1">
                <a:solidFill>
                  <a:srgbClr val="FFFFFF"/>
                </a:solidFill>
                <a:latin typeface="Montserrat Black"/>
              </a:rPr>
              <a:t>Como validamos a entrega</a:t>
            </a:r>
            <a:endParaRPr lang="pt-BR" sz="2500"/>
          </a:p>
        </p:txBody>
      </p:sp>
      <p:sp>
        <p:nvSpPr>
          <p:cNvPr id="8" name="Title Underline"/>
          <p:cNvSpPr/>
          <p:nvPr/>
        </p:nvSpPr>
        <p:spPr>
          <a:xfrm>
            <a:off x="896112" y="1783080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9" name="Bullets"/>
          <p:cNvSpPr txBox="1"/>
          <p:nvPr/>
        </p:nvSpPr>
        <p:spPr>
          <a:xfrm>
            <a:off x="914400" y="2011680"/>
            <a:ext cx="617220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Endpoints financeiros disponiveis no Swagger.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Collections Postman com cenarios prontos.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Gateway fake para confirmar e conciliar pagamentos.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Teste com Pix, cartao, pagamento misto e dois vendedores.</a:t>
            </a:r>
            <a:endParaRPr lang="pt-BR" sz="1700"/>
          </a:p>
        </p:txBody>
      </p:sp>
      <p:sp>
        <p:nvSpPr>
          <p:cNvPr id="10" name="Notes"/>
          <p:cNvSpPr txBox="1"/>
          <p:nvPr/>
        </p:nvSpPr>
        <p:spPr>
          <a:xfrm>
            <a:off x="7772400" y="214884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750" lang="pt-BR" b="1">
                <a:solidFill>
                  <a:srgbClr val="D4AF37"/>
                </a:solidFill>
                <a:latin typeface="Montserrat Black"/>
              </a:rPr>
              <a:t>Cenarios</a:t>
            </a:r>
            <a:endParaRPr lang="pt-BR" sz="175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1 vendedor e 1 forma de pagamento.</a:t>
            </a:r>
            <a:endParaRPr lang="pt-BR" sz="140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2 vendedores no mesmo pedido.</a:t>
            </a:r>
            <a:endParaRPr lang="pt-BR" sz="140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Pix, cartao e pagamento parcelado.</a:t>
            </a:r>
            <a:endParaRPr lang="pt-BR" sz="1400"/>
          </a:p>
        </p:txBody>
      </p:sp>
      <p:sp>
        <p:nvSpPr>
          <p:cNvPr id="11" name="Footer"/>
          <p:cNvSpPr txBox="1"/>
          <p:nvPr/>
        </p:nvSpPr>
        <p:spPr>
          <a:xfrm>
            <a:off x="877824" y="5623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>
              <a:buNone/>
            </a:pPr>
            <a:r>
              <a:rPr sz="1000" lang="pt-BR">
                <a:solidFill>
                  <a:srgbClr val="3B3B3B"/>
                </a:solidFill>
                <a:latin typeface="Montserrat Bold"/>
              </a:rPr>
              <a:t>OmniMarket | Sprint</a:t>
            </a:r>
            <a:endParaRPr lang="pt-BR" sz="1000"/>
          </a:p>
        </p:txBody>
      </p:sp>
      <p:sp>
        <p:nvSpPr>
          <p:cNvPr id="12" name="Page"/>
          <p:cNvSpPr txBox="1"/>
          <p:nvPr/>
        </p:nvSpPr>
        <p:spPr>
          <a:xfrm>
            <a:off x="10561320" y="5577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 algn="ctr">
              <a:buNone/>
            </a:pPr>
            <a:r>
              <a:rPr sz="1000" lang="pt-BR" b="1">
                <a:solidFill>
                  <a:srgbClr val="D4AF37"/>
                </a:solidFill>
                <a:latin typeface="Montserrat Bold"/>
              </a:rPr>
              <a:t>5/6</a:t>
            </a:r>
            <a:endParaRPr lang="pt-B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3" name="Top Line"/>
          <p:cNvSpPr/>
          <p:nvPr/>
        </p:nvSpPr>
        <p:spPr>
          <a:xfrm>
            <a:off x="731520" y="438912"/>
            <a:ext cx="10744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Note Box"/>
          <p:cNvSpPr/>
          <p:nvPr/>
        </p:nvSpPr>
        <p:spPr>
          <a:xfrm>
            <a:off x="7543800" y="1920240"/>
            <a:ext cx="3611880" cy="2560320"/>
          </a:xfrm>
          <a:prstGeom prst="roundRect">
            <a:avLst/>
          </a:prstGeom>
          <a:noFill/>
          <a:ln w="12700">
            <a:solidFill>
              <a:srgbClr val="D4AF37"/>
            </a:solidFill>
          </a:ln>
        </p:spPr>
      </p:sp>
      <p:pic>
        <p:nvPicPr>
          <p:cNvPr id="5" name="Logo Sm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640080"/>
            <a:ext cx="749808" cy="749808"/>
          </a:xfrm>
          <a:prstGeom prst="rect">
            <a:avLst/>
          </a:prstGeom>
          <a:ln>
            <a:noFill/>
          </a:ln>
        </p:spPr>
      </p:pic>
      <p:sp>
        <p:nvSpPr>
          <p:cNvPr id="6" name="Section"/>
          <p:cNvSpPr txBox="1"/>
          <p:nvPr/>
        </p:nvSpPr>
        <p:spPr>
          <a:xfrm>
            <a:off x="868680" y="62179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300" lang="pt-BR" b="1">
                <a:solidFill>
                  <a:srgbClr val="D4AF37"/>
                </a:solidFill>
                <a:latin typeface="Syne"/>
              </a:rPr>
              <a:t>FECHAMENTO</a:t>
            </a:r>
            <a:endParaRPr lang="pt-BR" sz="1300"/>
          </a:p>
        </p:txBody>
      </p:sp>
      <p:sp>
        <p:nvSpPr>
          <p:cNvPr id="7" name="Title"/>
          <p:cNvSpPr txBox="1"/>
          <p:nvPr/>
        </p:nvSpPr>
        <p:spPr>
          <a:xfrm>
            <a:off x="868680" y="105156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2500" lang="pt-BR" b="1">
                <a:solidFill>
                  <a:srgbClr val="FFFFFF"/>
                </a:solidFill>
                <a:latin typeface="Montserrat Black"/>
              </a:rPr>
              <a:t>Proximos passos</a:t>
            </a:r>
            <a:endParaRPr lang="pt-BR" sz="2500"/>
          </a:p>
        </p:txBody>
      </p:sp>
      <p:sp>
        <p:nvSpPr>
          <p:cNvPr id="8" name="Title Underline"/>
          <p:cNvSpPr/>
          <p:nvPr/>
        </p:nvSpPr>
        <p:spPr>
          <a:xfrm>
            <a:off x="896112" y="1783080"/>
            <a:ext cx="1965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9" name="Bullets"/>
          <p:cNvSpPr txBox="1"/>
          <p:nvPr/>
        </p:nvSpPr>
        <p:spPr>
          <a:xfrm>
            <a:off x="914400" y="2011680"/>
            <a:ext cx="617220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Evoluir as interfaces Web e Mobile.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Refinar testes, documentacao e demonstracao final.</a:t>
            </a:r>
            <a:endParaRPr lang="pt-BR" sz="1700"/>
          </a:p>
          <a:p>
            <a:pPr marL="342900" indent="-285750">
              <a:buChar char="•"/>
            </a:pPr>
            <a:r>
              <a:rPr sz="1700" lang="pt-BR">
                <a:solidFill>
                  <a:srgbClr val="E5E0DF"/>
                </a:solidFill>
                <a:latin typeface="Montserrat Bold"/>
              </a:rPr>
              <a:t>Aproximar o financeiro de uma integracao real.</a:t>
            </a:r>
            <a:endParaRPr lang="pt-BR" sz="1700"/>
          </a:p>
        </p:txBody>
      </p:sp>
      <p:sp>
        <p:nvSpPr>
          <p:cNvPr id="10" name="Notes"/>
          <p:cNvSpPr txBox="1"/>
          <p:nvPr/>
        </p:nvSpPr>
        <p:spPr>
          <a:xfrm>
            <a:off x="7772400" y="214884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>
            <a:spAutoFit/>
          </a:bodyPr>
          <a:lstStyle/>
          <a:p>
            <a:pPr>
              <a:buNone/>
            </a:pPr>
            <a:r>
              <a:rPr sz="1750" lang="pt-BR" b="1">
                <a:solidFill>
                  <a:srgbClr val="D4AF37"/>
                </a:solidFill>
                <a:latin typeface="Montserrat Black"/>
              </a:rPr>
              <a:t>Sintese da sprint</a:t>
            </a:r>
            <a:endParaRPr lang="pt-BR" sz="175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A base tecnica ficou mais robusta.</a:t>
            </a:r>
            <a:endParaRPr lang="pt-BR" sz="1400"/>
          </a:p>
          <a:p>
            <a:pPr>
              <a:buNone/>
            </a:pPr>
            <a:r>
              <a:rPr sz="1400" lang="pt-BR">
                <a:solidFill>
                  <a:srgbClr val="E5E0DF"/>
                </a:solidFill>
                <a:latin typeface="Montserrat Bold"/>
              </a:rPr>
              <a:t>O proximo foco sera acabamento, front-end e validacao final do TCC.</a:t>
            </a:r>
            <a:endParaRPr lang="pt-BR" sz="1400"/>
          </a:p>
        </p:txBody>
      </p:sp>
      <p:sp>
        <p:nvSpPr>
          <p:cNvPr id="11" name="Footer"/>
          <p:cNvSpPr txBox="1"/>
          <p:nvPr/>
        </p:nvSpPr>
        <p:spPr>
          <a:xfrm>
            <a:off x="877824" y="5623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>
              <a:buNone/>
            </a:pPr>
            <a:r>
              <a:rPr sz="1000" lang="pt-BR">
                <a:solidFill>
                  <a:srgbClr val="3B3B3B"/>
                </a:solidFill>
                <a:latin typeface="Montserrat Bold"/>
              </a:rPr>
              <a:t>OmniMarket | Sprint</a:t>
            </a:r>
            <a:endParaRPr lang="pt-BR" sz="1000"/>
          </a:p>
        </p:txBody>
      </p:sp>
      <p:sp>
        <p:nvSpPr>
          <p:cNvPr id="12" name="Page"/>
          <p:cNvSpPr txBox="1"/>
          <p:nvPr/>
        </p:nvSpPr>
        <p:spPr>
          <a:xfrm>
            <a:off x="10561320" y="5577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>
            <a:spAutoFit/>
          </a:bodyPr>
          <a:lstStyle/>
          <a:p>
            <a:pPr algn="ctr">
              <a:buNone/>
            </a:pPr>
            <a:r>
              <a:rPr sz="1000" lang="pt-BR" b="1">
                <a:solidFill>
                  <a:srgbClr val="D4AF37"/>
                </a:solidFill>
                <a:latin typeface="Montserrat Bold"/>
              </a:rPr>
              <a:t>6/6</a:t>
            </a:r>
            <a:endParaRPr lang="pt-B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ni Theme">
  <a:themeElements>
    <a:clrScheme name="Omni">
      <a:dk1>
        <a:srgbClr val="050505"/>
      </a:dk1>
      <a:lt1>
        <a:srgbClr val="FFFFFF"/>
      </a:lt1>
      <a:dk2>
        <a:srgbClr val="3B3B3B"/>
      </a:dk2>
      <a:lt2>
        <a:srgbClr val="E5E0DF"/>
      </a:lt2>
      <a:accent1>
        <a:srgbClr val="D4AF37"/>
      </a:accent1>
      <a:accent2>
        <a:srgbClr val="E5E0DF"/>
      </a:accent2>
      <a:accent3>
        <a:srgbClr val="3B3B3B"/>
      </a:accent3>
      <a:accent4>
        <a:srgbClr val="FFFFFF"/>
      </a:accent4>
      <a:accent5>
        <a:srgbClr val="D4AF37"/>
      </a:accent5>
      <a:accent6>
        <a:srgbClr val="E5E0DF"/>
      </a:accent6>
      <a:hlink>
        <a:srgbClr val="D4AF37"/>
      </a:hlink>
      <a:folHlink>
        <a:srgbClr val="E5E0DF"/>
      </a:folHlink>
    </a:clrScheme>
    <a:fontScheme name="Omni">
      <a:majorFont>
        <a:latin typeface="Montserrat Black"/>
        <a:ea typeface="Montserrat Black"/>
        <a:cs typeface="Montserrat Black"/>
      </a:majorFont>
      <a:minorFont>
        <a:latin typeface="Montserrat Bold"/>
        <a:ea typeface="Montserrat Bold"/>
        <a:cs typeface="Montserrat Bold"/>
      </a:minorFont>
    </a:fontScheme>
    <a:fmtScheme name="Omni">
      <a:fillStyleLst>
        <a:solidFill>
          <a:schemeClr val="phClr"/>
        </a:solidFill>
        <a:solidFill>
          <a:srgbClr val="050505"/>
        </a:solidFill>
        <a:solidFill>
          <a:srgbClr val="E5E0DF"/>
        </a:solidFill>
      </a:fillStyleLst>
      <a:lnStyleLst>
        <a:ln w="9525">
          <a:solidFill>
            <a:srgbClr val="D4AF37"/>
          </a:solidFill>
        </a:ln>
        <a:ln w="25400">
          <a:solidFill>
            <a:srgbClr val="D4AF37"/>
          </a:solidFill>
        </a:ln>
        <a:ln w="38100">
          <a:solidFill>
            <a:srgbClr val="D4AF37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050505"/>
        </a:solidFill>
        <a:solidFill>
          <a:srgbClr val="3B3B3B"/>
        </a:solidFill>
        <a:solidFill>
          <a:srgbClr val="E5E0DF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</PresentationFormat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Omni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OmniMarket - Apresentacao de Sprint</dc:title>
  <dc:subject>TCC OmniMarket</dc:subject>
  <dc:creator>OpenAI Codex</dc:creator>
  <cp:lastModifiedBy>OpenAI Codex</cp:lastModifiedBy>
  <dcterms:created xsi:type="dcterms:W3CDTF">2026-04-25T21:06:53Z</dcterms:created>
  <dcterms:modified xsi:type="dcterms:W3CDTF">2026-04-25T21:06:53Z</dcterms:modified>
</cp:coreProperties>
</file>